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70" r:id="rId1"/>
  </p:sldMasterIdLst>
  <p:notesMasterIdLst>
    <p:notesMasterId r:id="rId21"/>
  </p:notesMasterIdLst>
  <p:handoutMasterIdLst>
    <p:handoutMasterId r:id="rId22"/>
  </p:handoutMasterIdLst>
  <p:sldIdLst>
    <p:sldId id="265" r:id="rId2"/>
    <p:sldId id="266" r:id="rId3"/>
    <p:sldId id="270" r:id="rId4"/>
    <p:sldId id="272" r:id="rId5"/>
    <p:sldId id="273" r:id="rId6"/>
    <p:sldId id="267" r:id="rId7"/>
    <p:sldId id="274" r:id="rId8"/>
    <p:sldId id="275" r:id="rId9"/>
    <p:sldId id="276" r:id="rId10"/>
    <p:sldId id="268" r:id="rId11"/>
    <p:sldId id="278" r:id="rId12"/>
    <p:sldId id="277" r:id="rId13"/>
    <p:sldId id="280" r:id="rId14"/>
    <p:sldId id="269" r:id="rId15"/>
    <p:sldId id="281" r:id="rId16"/>
    <p:sldId id="282" r:id="rId17"/>
    <p:sldId id="283" r:id="rId18"/>
    <p:sldId id="284" r:id="rId19"/>
    <p:sldId id="263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06" d="100"/>
          <a:sy n="106" d="100"/>
        </p:scale>
        <p:origin x="802" y="7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F75E1C-F95A-41CD-B344-A95F8676F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65FC6A-367B-46DF-9890-259F04C39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626A8B9-966B-46CA-A862-1BB5B0AF74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7BB1B8-FE7A-4678-9D10-A51B5902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EC5F0E-C218-4C19-AEC0-17007D1C3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1BBA172-387F-42D1-AE99-1D094D758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DFB65CA-8B90-4E84-A72C-259818032E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F0F51E1-EBBA-4643-B2D4-8E89FC55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7EFE4E2-8D9A-432B-9A48-6252D93E7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2BB0C99-6DF3-4168-9AA4-6CA838DBF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1AE56F-2A25-4DE0-AAA6-1AB4B55084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61C129F-3C65-4CC0-9A6B-76CBF37E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BC0C188-A746-408A-973D-276DA3F07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6C0C56-3A5B-4AA0-A44A-2A292FAD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3C98539-4BA0-4729-B67E-AE297529BC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E4CC03F-AD35-47FD-9D6C-BC412B6D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45E9534-9EFD-48A2-A7A1-017D75036B4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D147D9-9DD3-4C5A-9951-88569D0F7C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FBEF3D-4026-4C48-877F-C2765AEBAF8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32F66BA-2A7B-4626-9C8D-DB1CB7B4D3B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BE515DA-3C63-4516-8FE8-C74144D283C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F3B613A-0B3D-43E8-8B3E-0B2C9823FB47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C2E76E-C04E-449B-BA3C-93ACD43C9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856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3D3932F-DAEA-49EF-8018-30DB1E14F96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Отчет по лабораторным работам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20F86-1567-48D2-B65A-DA6BBCFA70CE}"/>
              </a:ext>
            </a:extLst>
          </p:cNvPr>
          <p:cNvSpPr txBox="1"/>
          <p:nvPr/>
        </p:nvSpPr>
        <p:spPr>
          <a:xfrm>
            <a:off x="5325684" y="4108762"/>
            <a:ext cx="36779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8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Работу выполнила:</a:t>
            </a:r>
          </a:p>
          <a:p>
            <a:pPr algn="r"/>
            <a:r>
              <a:rPr lang="ru-RU" sz="18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студентка группы </a:t>
            </a:r>
            <a:r>
              <a:rPr lang="en-US" sz="18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N3348</a:t>
            </a:r>
            <a:r>
              <a:rPr lang="ru-RU" sz="18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, потока 1.4</a:t>
            </a:r>
            <a:endParaRPr lang="en-US" sz="1800" b="0" i="0" u="none" strike="noStrike" baseline="0" dirty="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pPr algn="r"/>
            <a:r>
              <a:rPr lang="ru-RU" sz="1800" b="0" i="0" u="none" strike="noStrike" baseline="0" dirty="0">
                <a:solidFill>
                  <a:srgbClr val="FFFFFF"/>
                </a:solidFill>
                <a:latin typeface="Calibri" panose="020F0502020204030204" pitchFamily="34" charset="0"/>
              </a:rPr>
              <a:t>Жук Анастасия Валерьевна</a:t>
            </a:r>
            <a:endParaRPr lang="ru-RU" dirty="0">
              <a:solidFill>
                <a:schemeClr val="bg1"/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A064A-024C-4253-A83F-386C739C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Цель и задачи ЛР №1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50ABF-D504-46C1-A254-FF6516507D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Цель работы</a:t>
            </a:r>
            <a:r>
              <a:rPr lang="ru-RU" dirty="0"/>
              <a:t>: изучить теоретические и нормативно-правовые основы понятий «информационная безопасность» и «кибербезопасность», сформулировать их определения, выявить ключевые особенности и определить их роль и взаимную связь в системе обеспечения защиты информации.</a:t>
            </a:r>
          </a:p>
          <a:p>
            <a:endParaRPr lang="ru-RU" dirty="0"/>
          </a:p>
          <a:p>
            <a:r>
              <a:rPr lang="ru-RU" b="1" dirty="0"/>
              <a:t>Задачи</a:t>
            </a:r>
            <a:r>
              <a:rPr lang="ru-RU" dirty="0"/>
              <a:t>:</a:t>
            </a:r>
          </a:p>
          <a:p>
            <a:r>
              <a:rPr lang="ru-RU" dirty="0"/>
              <a:t>−	раскрыть содержание базового понятия «информация» и определить ее ключевые свойства, подлежащие защите;</a:t>
            </a:r>
          </a:p>
          <a:p>
            <a:r>
              <a:rPr lang="ru-RU" dirty="0"/>
              <a:t>−	проанализировать российские нормативные и учебно-научные определения информационной безопасности;</a:t>
            </a:r>
          </a:p>
          <a:p>
            <a:r>
              <a:rPr lang="ru-RU" dirty="0"/>
              <a:t>−	исследовать определение кибербезопасности;</a:t>
            </a:r>
          </a:p>
          <a:p>
            <a:r>
              <a:rPr lang="ru-RU" dirty="0"/>
              <a:t>−	выявить и систематизировать ключевые различия между информационной безопасностью и кибербезопасностью;</a:t>
            </a:r>
          </a:p>
          <a:p>
            <a:r>
              <a:rPr lang="ru-RU" dirty="0"/>
              <a:t>−	сформулировать выводы о взаимосвязи данных понятий.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FF2EB1-DA17-4524-AE63-C5ACECCAB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38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755C394-6EC3-424D-8079-4011EC023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792286"/>
            <a:ext cx="3775243" cy="1573671"/>
          </a:xfrm>
        </p:spPr>
        <p:txBody>
          <a:bodyPr>
            <a:noAutofit/>
          </a:bodyPr>
          <a:lstStyle/>
          <a:p>
            <a:r>
              <a:rPr lang="ru-RU" sz="1300" dirty="0"/>
              <a:t>Состояние защищенности информации и поддерживающей ее инфраструктуры от внутренних и внешних угроз любой природы, при котором гарантируются конфиденциальность, целостность и доступность данных независимо от формы их представления, что обеспечивает защиту законных интересов личности, общества и государства.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7BB884-4C16-4367-A120-6351877E8D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Информационная безопасность (ИБ)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50275-4A7B-46C1-8377-991AD29E77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58159" y="2863516"/>
            <a:ext cx="3775243" cy="1816768"/>
          </a:xfrm>
        </p:spPr>
        <p:txBody>
          <a:bodyPr>
            <a:normAutofit fontScale="92500" lnSpcReduction="10000"/>
          </a:bodyPr>
          <a:lstStyle/>
          <a:p>
            <a:r>
              <a:rPr lang="ru-RU" sz="1400" dirty="0"/>
              <a:t>Это совокупность технологических, организационных и процедурных мер, направленных на защиту компьютерных систем, сетей, программного обеспечения и цифровой информации от кибератак, несанкционированного доступа, повреждения, кражи или разрушения, обеспечивающ</a:t>
            </a:r>
            <a:r>
              <a:rPr lang="ru-RU" dirty="0"/>
              <a:t>ие</a:t>
            </a:r>
            <a:r>
              <a:rPr lang="ru-RU" sz="1400" dirty="0"/>
              <a:t> устойчивое функционирование цифровых активов в условиях киберпространства.</a:t>
            </a:r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8FC933-F81E-46AA-8099-305B85F082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Кибербезопасность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AA89BA8-60D6-4FEB-A79F-26321791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ИБ и кибербезопасность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FACAEB-53C9-4A7B-9E2C-B0C68B7E18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732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E1D47-A121-4E0F-AE80-F8F2D9206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Триада КЦД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027D83-836F-4A74-9337-10B292DB8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4668253" cy="3447143"/>
          </a:xfrm>
        </p:spPr>
        <p:txBody>
          <a:bodyPr>
            <a:normAutofit lnSpcReduction="10000"/>
          </a:bodyPr>
          <a:lstStyle/>
          <a:p>
            <a:r>
              <a:rPr lang="ru-RU" sz="1600" b="1" dirty="0"/>
              <a:t>Конфиденциальность</a:t>
            </a:r>
            <a:r>
              <a:rPr lang="ru-RU" sz="1600" dirty="0"/>
              <a:t> – ограничение доступа к информации исключительно для уполномоченных субъектов, предотвращающее несанкционированное раскрытие данных.</a:t>
            </a:r>
          </a:p>
          <a:p>
            <a:endParaRPr lang="ru-RU" sz="1600" dirty="0"/>
          </a:p>
          <a:p>
            <a:r>
              <a:rPr lang="ru-RU" sz="1600" b="1" dirty="0"/>
              <a:t>Целостность</a:t>
            </a:r>
            <a:r>
              <a:rPr lang="ru-RU" sz="1600" dirty="0"/>
              <a:t> – гарантия неизменности, точности и подлинности информации в процессе хранения, передачи и обработки, защита от случайного или злонамеренного искажения.</a:t>
            </a:r>
          </a:p>
          <a:p>
            <a:endParaRPr lang="ru-RU" sz="1600" dirty="0"/>
          </a:p>
          <a:p>
            <a:r>
              <a:rPr lang="ru-RU" sz="1600" b="1" dirty="0"/>
              <a:t>Доступность</a:t>
            </a:r>
            <a:r>
              <a:rPr lang="ru-RU" sz="1600" dirty="0"/>
              <a:t> – обеспечение своевременного и надежного доступа к информации и ресурсам для авторизованных пользователей в момент возникновения необходимости.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7D0185-FC38-44DA-B784-AFDDBC876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4</a:t>
            </a:fld>
            <a:endParaRPr lang="ru-RU"/>
          </a:p>
        </p:txBody>
      </p:sp>
      <p:pic>
        <p:nvPicPr>
          <p:cNvPr id="2050" name="Picture 2" descr="Хранение данных: как минимизировать риски с помощью DCAP / Хабр">
            <a:extLst>
              <a:ext uri="{FF2B5EF4-FFF2-40B4-BE49-F238E27FC236}">
                <a16:creationId xmlns:a16="http://schemas.microsoft.com/office/drawing/2014/main" id="{96EFFC76-7961-4780-ACD8-6AE68F38A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453" y="1338251"/>
            <a:ext cx="3530739" cy="31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33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B6E4A-93E2-48DC-AF15-07B6C52B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Различия ИБ и кибербезопасности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BF5C81-0190-47FB-A59C-9F56035478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C8C81809-3523-490F-BB90-DE637F9E7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382796"/>
              </p:ext>
            </p:extLst>
          </p:nvPr>
        </p:nvGraphicFramePr>
        <p:xfrm>
          <a:off x="457200" y="1183221"/>
          <a:ext cx="7542000" cy="347604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21515">
                  <a:extLst>
                    <a:ext uri="{9D8B030D-6E8A-4147-A177-3AD203B41FA5}">
                      <a16:colId xmlns:a16="http://schemas.microsoft.com/office/drawing/2014/main" val="263834628"/>
                    </a:ext>
                  </a:extLst>
                </a:gridCol>
                <a:gridCol w="2806485">
                  <a:extLst>
                    <a:ext uri="{9D8B030D-6E8A-4147-A177-3AD203B41FA5}">
                      <a16:colId xmlns:a16="http://schemas.microsoft.com/office/drawing/2014/main" val="2265124437"/>
                    </a:ext>
                  </a:extLst>
                </a:gridCol>
                <a:gridCol w="2514000">
                  <a:extLst>
                    <a:ext uri="{9D8B030D-6E8A-4147-A177-3AD203B41FA5}">
                      <a16:colId xmlns:a16="http://schemas.microsoft.com/office/drawing/2014/main" val="2316546925"/>
                    </a:ext>
                  </a:extLst>
                </a:gridCol>
              </a:tblGrid>
              <a:tr h="712799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Критерии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Информационная безопасность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Кибербезопасность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89771"/>
                  </a:ext>
                </a:extLst>
              </a:tr>
              <a:tr h="83902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Объект и среда защиты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Информация в любых формах представления и на любых носителях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Цифровая среда и данные в ней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820380"/>
                  </a:ext>
                </a:extLst>
              </a:tr>
              <a:tr h="416659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Характер угроз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Любого происхождения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/>
                        <a:t>Киберугрозы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005693"/>
                  </a:ext>
                </a:extLst>
              </a:tr>
              <a:tr h="1507565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Область применения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Любая организация, любой процесс работы с информацией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Цифровые проекты, ИТ-инфраструктуры, интернет-сервисы, расследования киберпреступлений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02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A064A-024C-4253-A83F-386C739C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Цель и задачи ЛР №2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50ABF-D504-46C1-A254-FF6516507D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Цель работы</a:t>
            </a:r>
            <a:r>
              <a:rPr lang="ru-RU" dirty="0"/>
              <a:t>: изучить понятие, виды и иерархическую структуру нормативных правовых актов РФ, а также проанализировать Доктрину ИБ РФ как основополагающий документ по ИБ РФ.</a:t>
            </a:r>
          </a:p>
          <a:p>
            <a:endParaRPr lang="ru-RU" dirty="0"/>
          </a:p>
          <a:p>
            <a:r>
              <a:rPr lang="ru-RU" b="1" dirty="0"/>
              <a:t>Задачи</a:t>
            </a:r>
            <a:r>
              <a:rPr lang="ru-RU" dirty="0"/>
              <a:t>:</a:t>
            </a:r>
          </a:p>
          <a:p>
            <a:r>
              <a:rPr lang="ru-RU" dirty="0"/>
              <a:t>−	раскрыть сущность, юридические свойства и классификацию нормативных правовых актов;</a:t>
            </a:r>
          </a:p>
          <a:p>
            <a:r>
              <a:rPr lang="ru-RU" dirty="0"/>
              <a:t>−	изучить иерархию нормативных правовых актов в Российской Федерации и правила разрешения коллизий между ними;</a:t>
            </a:r>
          </a:p>
          <a:p>
            <a:r>
              <a:rPr lang="ru-RU" dirty="0"/>
              <a:t>−	привести примеры нормативных правовых актов, регулирующих отношения в сфере информационной безопасности, по уровням иерархии</a:t>
            </a:r>
          </a:p>
          <a:p>
            <a:r>
              <a:rPr lang="ru-RU" dirty="0"/>
              <a:t>−	проанализировать содержание Доктрины информационной безопасности Российской Федерации как документа стратегического планирования.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FF2EB1-DA17-4524-AE63-C5ACECCAB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31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0B535-5AE6-43E3-8096-B81EB62C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НПА и их иерархия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F60F93-DA3E-41F3-BF7A-44E8940C0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516804"/>
            <a:ext cx="2718000" cy="3150935"/>
          </a:xfrm>
        </p:spPr>
        <p:txBody>
          <a:bodyPr/>
          <a:lstStyle/>
          <a:p>
            <a:r>
              <a:rPr lang="ru-RU" sz="1600" b="1" dirty="0"/>
              <a:t>Нормативный правовой акт </a:t>
            </a:r>
            <a:r>
              <a:rPr lang="ru-RU" sz="1600" dirty="0"/>
              <a:t>– это официальный документ, принятый (изданный) уполномоченным правотворческим органом в пределах его компетенций в установленной форме, направленный на установление, изменение или отмену правовых норм.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C28940-9014-48F9-85C8-F73BD9C31B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D29106-4B07-4285-AC31-61B6A7A54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200" y="1516804"/>
            <a:ext cx="5408830" cy="298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4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8BE67D-0615-4168-A430-09A083A2E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Доктрина ИБ РФ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9442AC-5372-4031-915E-3C6FD535B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467600" cy="2121657"/>
          </a:xfrm>
        </p:spPr>
        <p:txBody>
          <a:bodyPr>
            <a:normAutofit/>
          </a:bodyPr>
          <a:lstStyle/>
          <a:p>
            <a:r>
              <a:rPr lang="ru-RU" sz="1600" b="1" dirty="0"/>
              <a:t>Доктрина информационной безопасности Российской Федерации </a:t>
            </a:r>
            <a:r>
              <a:rPr lang="ru-RU" sz="1600" dirty="0"/>
              <a:t>– это система официальных взглядов на обеспечение национальной безопасности РФ в информационной среде.</a:t>
            </a:r>
          </a:p>
          <a:p>
            <a:endParaRPr lang="ru-RU" sz="1600" dirty="0"/>
          </a:p>
          <a:p>
            <a:r>
              <a:rPr lang="ru-RU" sz="1600" dirty="0"/>
              <a:t>Доктрина необходима для формирования государственной политики и выработки мер по совершенствованию системы обеспечения ИБ.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9CECF5-EC90-4812-BA8D-1042E56C2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995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EB763-011A-48FB-AAD3-A8BD2DE5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Доктрина ИБ РФ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1D7F9A-D0C8-4D09-909E-EA70615C9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1A3902DC-BF12-42C8-A643-68B70860F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033623"/>
              </p:ext>
            </p:extLst>
          </p:nvPr>
        </p:nvGraphicFramePr>
        <p:xfrm>
          <a:off x="526356" y="1172359"/>
          <a:ext cx="7441200" cy="3246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22444">
                  <a:extLst>
                    <a:ext uri="{9D8B030D-6E8A-4147-A177-3AD203B41FA5}">
                      <a16:colId xmlns:a16="http://schemas.microsoft.com/office/drawing/2014/main" val="3911389526"/>
                    </a:ext>
                  </a:extLst>
                </a:gridCol>
                <a:gridCol w="2239200">
                  <a:extLst>
                    <a:ext uri="{9D8B030D-6E8A-4147-A177-3AD203B41FA5}">
                      <a16:colId xmlns:a16="http://schemas.microsoft.com/office/drawing/2014/main" val="3110064024"/>
                    </a:ext>
                  </a:extLst>
                </a:gridCol>
                <a:gridCol w="2279556">
                  <a:extLst>
                    <a:ext uri="{9D8B030D-6E8A-4147-A177-3AD203B41FA5}">
                      <a16:colId xmlns:a16="http://schemas.microsoft.com/office/drawing/2014/main" val="221493755"/>
                    </a:ext>
                  </a:extLst>
                </a:gridCol>
              </a:tblGrid>
              <a:tr h="537386">
                <a:tc>
                  <a:txBody>
                    <a:bodyPr/>
                    <a:lstStyle/>
                    <a:p>
                      <a:r>
                        <a:rPr lang="ru-RU" dirty="0"/>
                        <a:t>Национальные интересы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Основные угрозы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Области обеспечения ИБ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992476"/>
                  </a:ext>
                </a:extLst>
              </a:tr>
              <a:tr h="2171709">
                <a:tc>
                  <a:txBody>
                    <a:bodyPr/>
                    <a:lstStyle/>
                    <a:p>
                      <a:r>
                        <a:rPr lang="ru-RU" sz="1500" dirty="0"/>
                        <a:t>Обеспечение и защита прав и свобод граждан;</a:t>
                      </a:r>
                    </a:p>
                    <a:p>
                      <a:r>
                        <a:rPr lang="ru-RU" sz="1500" dirty="0"/>
                        <a:t>Бесперебойное функционирование КИИ;</a:t>
                      </a:r>
                    </a:p>
                    <a:p>
                      <a:r>
                        <a:rPr lang="ru-RU" sz="1500" dirty="0"/>
                        <a:t>Развитие в РФ отрасли ИТ и электронной промышленности;</a:t>
                      </a:r>
                    </a:p>
                    <a:p>
                      <a:r>
                        <a:rPr lang="ru-RU" sz="1500" dirty="0"/>
                        <a:t>Доведение до российской и международной общественности достоверной информации о государственной политике РФ;</a:t>
                      </a:r>
                    </a:p>
                    <a:p>
                      <a:r>
                        <a:rPr lang="ru-RU" sz="1500" dirty="0"/>
                        <a:t>Содействие международной ИБ.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Угрозы со стороны зарубежных стран;</a:t>
                      </a:r>
                    </a:p>
                    <a:p>
                      <a:r>
                        <a:rPr lang="ru-RU" sz="1500" dirty="0"/>
                        <a:t>Терроризм, экстремизм;</a:t>
                      </a:r>
                    </a:p>
                    <a:p>
                      <a:r>
                        <a:rPr lang="ru-RU" sz="1500" dirty="0"/>
                        <a:t>Киберпреступления;</a:t>
                      </a:r>
                    </a:p>
                    <a:p>
                      <a:r>
                        <a:rPr lang="ru-RU" sz="1500" dirty="0"/>
                        <a:t>Зависимость отечественной промышленности от зарубежных стран;</a:t>
                      </a:r>
                    </a:p>
                    <a:p>
                      <a:r>
                        <a:rPr lang="ru-RU" sz="1500" dirty="0"/>
                        <a:t>Низкая осведомленность граждан по вопросам ИБ.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500" dirty="0"/>
                        <a:t>Оборона страны;</a:t>
                      </a:r>
                    </a:p>
                    <a:p>
                      <a:r>
                        <a:rPr lang="ru-RU" sz="1500" dirty="0"/>
                        <a:t>Государственная и общественная безопасность;</a:t>
                      </a:r>
                    </a:p>
                    <a:p>
                      <a:r>
                        <a:rPr lang="ru-RU" sz="1500" dirty="0"/>
                        <a:t>Экономическая сфера;</a:t>
                      </a:r>
                    </a:p>
                    <a:p>
                      <a:r>
                        <a:rPr lang="ru-RU" sz="1500" dirty="0"/>
                        <a:t>Наука, технологии, образование;</a:t>
                      </a:r>
                    </a:p>
                    <a:p>
                      <a:r>
                        <a:rPr lang="ru-RU" sz="1500" dirty="0"/>
                        <a:t>Стабильность и равноправное стратегическое партнерство.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641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83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A064A-024C-4253-A83F-386C739C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Цель и задачи ЛР №3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50ABF-D504-46C1-A254-FF6516507D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Цель работы</a:t>
            </a:r>
            <a:r>
              <a:rPr lang="ru-RU" dirty="0"/>
              <a:t>: изучить сущность, содержание и практическое значение организационных мер защиты информации, а также освоить принципы их применения для минимизации рисков, связанных с человеческим фактором в системе обеспечения ИБ организации.</a:t>
            </a:r>
          </a:p>
          <a:p>
            <a:endParaRPr lang="ru-RU" dirty="0"/>
          </a:p>
          <a:p>
            <a:r>
              <a:rPr lang="ru-RU" b="1" dirty="0"/>
              <a:t>Задачи</a:t>
            </a:r>
            <a:r>
              <a:rPr lang="ru-RU" dirty="0"/>
              <a:t>:</a:t>
            </a:r>
          </a:p>
          <a:p>
            <a:r>
              <a:rPr lang="ru-RU" dirty="0"/>
              <a:t>−	раскрыть понятие и значение организационной защиты в системе информационной безопасности;</a:t>
            </a:r>
          </a:p>
          <a:p>
            <a:r>
              <a:rPr lang="ru-RU" dirty="0"/>
              <a:t>−	изучить административные меры и методы управления персоналом;</a:t>
            </a:r>
          </a:p>
          <a:p>
            <a:r>
              <a:rPr lang="ru-RU" dirty="0"/>
              <a:t>−	систематизировать классификацию организационных мер по направлениям деятельности;</a:t>
            </a:r>
          </a:p>
          <a:p>
            <a:r>
              <a:rPr lang="ru-RU" dirty="0"/>
              <a:t>−	проанализировать взаимосвязь организационных мер с правовыми и техническими видами защиты.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FF2EB1-DA17-4524-AE63-C5ACECCAB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19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49D4C-1240-4244-821A-A31F5362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Организационная защита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D339FE-BD63-4558-ABB5-9F6358E04E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b="1" dirty="0"/>
              <a:t>Организационная защита информации </a:t>
            </a:r>
            <a:r>
              <a:rPr lang="ru-RU" sz="1600" dirty="0"/>
              <a:t>– это регламентация производственной деятельности и взаимоотношений исполнителей на нормативно-правовой основе таким образом, что несанкционированный доступ к конфиденциальной и секретной информации становится невозможным или существенно затрудняется за счет проведения организационных мероприятий.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A7074F-296D-4D34-9185-B46271B00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70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5AFD072-438F-4F0D-8C1F-268E45061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7999" y="1792286"/>
            <a:ext cx="3635830" cy="176275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Документы, которые регламентируют работу и поведение персонала: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стратегические документы,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положения и регламенты,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инструкции и методики,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кадровые документы,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учетные формы.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5E7E7C-0267-4BE1-9F25-4149F97214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Административные меры (корпоративные ОРД)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A3B9E-66AF-491C-A27D-33D5C337BA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171" y="2822400"/>
            <a:ext cx="3635830" cy="1944863"/>
          </a:xfrm>
        </p:spPr>
        <p:txBody>
          <a:bodyPr/>
          <a:lstStyle/>
          <a:p>
            <a:r>
              <a:rPr lang="ru-RU" dirty="0"/>
              <a:t>Работа с людьми: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подбор и проверка персонала,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обучение и информирование,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мотивация и контроль,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 с увольняющимися сотрудниками.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D1A13D-9BCA-4497-A889-C0ED1AB67A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Управление персоналом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A6C98CE-5E47-44B6-859F-F973E277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Виды организационной защиты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E107A9-9550-4B35-AB1E-9264B1F942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407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DB063F9-4554-4D49-A017-0FC99AE064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51807" y="1149772"/>
            <a:ext cx="2589213" cy="154232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algn="ctr"/>
            <a:r>
              <a:rPr lang="ru-RU" sz="1400" dirty="0"/>
              <a:t>Организация режима и охраны</a:t>
            </a:r>
          </a:p>
          <a:p>
            <a:r>
              <a:rPr lang="ru-RU" b="0" dirty="0"/>
              <a:t>Включает комплекс мер по созданию и поддержанию пропускного режима на территории организации, охране помещений и контролю доступа к информационным ресурсам.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B57190-3637-4491-993B-51D22EE929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250" y="1150928"/>
            <a:ext cx="2589213" cy="154117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ru-RU" sz="1400" dirty="0"/>
              <a:t>Организация работы с сотрудниками</a:t>
            </a:r>
          </a:p>
          <a:p>
            <a:r>
              <a:rPr lang="ru-RU" b="0" dirty="0"/>
              <a:t>Минимизирует риски, связанных с человеческим фактором.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BF08390-4473-4BF2-9AF4-309B8A27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 организационной защиты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3B10A7E-05AB-46F2-AFFE-BE9939CC115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60352" y="3008152"/>
            <a:ext cx="2589213" cy="154232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ru-RU" sz="1400" dirty="0"/>
              <a:t>Организация работы с документами</a:t>
            </a:r>
          </a:p>
          <a:p>
            <a:r>
              <a:rPr lang="ru-RU" b="0" dirty="0"/>
              <a:t>Регламентирует работу с документами, содержащих конфиденциальную информацию, охватывая этом весь их жизненный цикл.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15064BC-4A05-4C2C-9365-AFA0558ADE0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278970" y="3008152"/>
            <a:ext cx="2589213" cy="1542325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ru-RU" sz="1400" dirty="0"/>
              <a:t>Организация использования технических средств</a:t>
            </a:r>
          </a:p>
          <a:p>
            <a:r>
              <a:rPr lang="ru-RU" b="0" dirty="0"/>
              <a:t>Регламентирует работу с техническими средствами обработки информации.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ADDEA5D-33DC-45F4-BCD6-BF0CEBBEAC0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088857" y="3008152"/>
            <a:ext cx="2589213" cy="1542325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ru-RU" sz="1400" dirty="0"/>
              <a:t>Организация работы по анализу внутренних и внешних угроз</a:t>
            </a:r>
          </a:p>
          <a:p>
            <a:r>
              <a:rPr lang="ru-RU" b="0" dirty="0"/>
              <a:t>Обеспечивает своевременное выявление и оценку угроз информационной безопасности.</a:t>
            </a:r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F3D1A005-8DB5-4C6E-B53E-C8126473275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049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A064A-024C-4253-A83F-386C739C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Цель и задачи ЛР №4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50ABF-D504-46C1-A254-FF6516507D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Цель работы</a:t>
            </a:r>
            <a:r>
              <a:rPr lang="ru-RU" dirty="0"/>
              <a:t>: изучить понятие, классификацию и практическое применение инженерно-технических средств защиты информации, а также изучить их нормативное регулирование.</a:t>
            </a:r>
          </a:p>
          <a:p>
            <a:endParaRPr lang="ru-RU" dirty="0"/>
          </a:p>
          <a:p>
            <a:r>
              <a:rPr lang="ru-RU" b="1" dirty="0"/>
              <a:t>Задачи</a:t>
            </a:r>
            <a:r>
              <a:rPr lang="ru-RU" dirty="0"/>
              <a:t>:</a:t>
            </a:r>
          </a:p>
          <a:p>
            <a:r>
              <a:rPr lang="ru-RU" dirty="0"/>
              <a:t>−	раскрыть сущность инженерно-технической защиты и различия ее составляющих;</a:t>
            </a:r>
          </a:p>
          <a:p>
            <a:r>
              <a:rPr lang="ru-RU" dirty="0"/>
              <a:t>−	изучить классификацию технических мер по объектам, способам и масштабам воздействия;</a:t>
            </a:r>
          </a:p>
          <a:p>
            <a:r>
              <a:rPr lang="ru-RU" dirty="0"/>
              <a:t>−	систематизировать виды технических средств защиты и подобрать примеры их применения;</a:t>
            </a:r>
          </a:p>
          <a:p>
            <a:r>
              <a:rPr lang="ru-RU" dirty="0"/>
              <a:t>−	проанализировать нормативное регулирование и роль контролирующих органов в сфере технической защиты информации.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FF2EB1-DA17-4524-AE63-C5ACECCAB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355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49D4C-1240-4244-821A-A31F5362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Инженерно-техническая защита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D339FE-BD63-4558-ABB5-9F6358E04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7467600" cy="3555320"/>
          </a:xfrm>
        </p:spPr>
        <p:txBody>
          <a:bodyPr>
            <a:normAutofit/>
          </a:bodyPr>
          <a:lstStyle/>
          <a:p>
            <a:r>
              <a:rPr lang="ru-RU" sz="1700" b="1" dirty="0"/>
              <a:t>Инженерно-техническая защита информации </a:t>
            </a:r>
            <a:r>
              <a:rPr lang="ru-RU" sz="1700" dirty="0"/>
              <a:t>представляет собой совокупность специальных мер, персонала, технических средств, направленных на предотвращение разглашения, утечки, несанкционированного доступа (НСД) и других форм незаконного вмешательства в информационные ресурсы.</a:t>
            </a:r>
          </a:p>
          <a:p>
            <a:endParaRPr lang="ru-RU" sz="1700" dirty="0"/>
          </a:p>
          <a:p>
            <a:r>
              <a:rPr lang="ru-RU" sz="1700" b="1" dirty="0"/>
              <a:t>Инженерная защита </a:t>
            </a:r>
            <a:r>
              <a:rPr lang="ru-RU" sz="1700" dirty="0"/>
              <a:t>связана с созданием физических препятствий и барьеров на пути потенциальных нарушителей, а также с проектированием и оборудованием защищаемых объектов. </a:t>
            </a:r>
            <a:r>
              <a:rPr lang="ru-RU" sz="1700" b="1" dirty="0"/>
              <a:t>Техническая защита </a:t>
            </a:r>
            <a:r>
              <a:rPr lang="ru-RU" sz="1700" dirty="0"/>
              <a:t>предполагает использование специальных технических средств для обнаружения, предотвращения и нейтрализации угроз безопасности информации.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A7074F-296D-4D34-9185-B46271B006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133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665EA-2B59-4046-8ECA-70DBE52BEBE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dirty="0"/>
              <a:t>Критерии для классификации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2C238A42-3E24-4CD5-911A-983E59372BB3}"/>
              </a:ext>
            </a:extLst>
          </p:cNvPr>
          <p:cNvSpPr/>
          <p:nvPr/>
        </p:nvSpPr>
        <p:spPr>
          <a:xfrm>
            <a:off x="2938227" y="2332800"/>
            <a:ext cx="3427200" cy="12744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Инженерно-техническая защита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47CCF5D5-7B55-4D9C-9212-BC4406634297}"/>
              </a:ext>
            </a:extLst>
          </p:cNvPr>
          <p:cNvSpPr/>
          <p:nvPr/>
        </p:nvSpPr>
        <p:spPr>
          <a:xfrm>
            <a:off x="3636857" y="1072187"/>
            <a:ext cx="2036511" cy="81037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 объектам воздействия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D97BCCA2-6871-4577-8104-D2CF8939CDAC}"/>
              </a:ext>
            </a:extLst>
          </p:cNvPr>
          <p:cNvSpPr/>
          <p:nvPr/>
        </p:nvSpPr>
        <p:spPr>
          <a:xfrm>
            <a:off x="701371" y="3379359"/>
            <a:ext cx="2142129" cy="81037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 классу технических средств защиты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A6344FFB-7C9C-4236-91C5-AE9DBB0385D6}"/>
              </a:ext>
            </a:extLst>
          </p:cNvPr>
          <p:cNvSpPr/>
          <p:nvPr/>
        </p:nvSpPr>
        <p:spPr>
          <a:xfrm>
            <a:off x="644086" y="1706871"/>
            <a:ext cx="2199416" cy="83633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 классу средств злоумышленника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1F1E7A3-0D61-40E3-AA34-694E9D0355D1}"/>
              </a:ext>
            </a:extLst>
          </p:cNvPr>
          <p:cNvSpPr/>
          <p:nvPr/>
        </p:nvSpPr>
        <p:spPr>
          <a:xfrm>
            <a:off x="6578408" y="1732829"/>
            <a:ext cx="2036511" cy="81037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 характеру мероприятий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75BA131-95ED-4269-84BB-B85F318C8819}"/>
              </a:ext>
            </a:extLst>
          </p:cNvPr>
          <p:cNvSpPr/>
          <p:nvPr/>
        </p:nvSpPr>
        <p:spPr>
          <a:xfrm>
            <a:off x="6528158" y="3379359"/>
            <a:ext cx="2036511" cy="81037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 способам реализации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8C9F819-BDBD-4199-BCE0-F173FDDB060D}"/>
              </a:ext>
            </a:extLst>
          </p:cNvPr>
          <p:cNvSpPr/>
          <p:nvPr/>
        </p:nvSpPr>
        <p:spPr>
          <a:xfrm>
            <a:off x="3633571" y="4026686"/>
            <a:ext cx="2036511" cy="81037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 масштабу охвата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F4845101-6517-469A-8F4E-8F570066085B}"/>
              </a:ext>
            </a:extLst>
          </p:cNvPr>
          <p:cNvCxnSpPr/>
          <p:nvPr/>
        </p:nvCxnSpPr>
        <p:spPr>
          <a:xfrm flipH="1">
            <a:off x="2743200" y="3304800"/>
            <a:ext cx="417600" cy="30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CAAAD02-6CDE-4C95-A9CF-5CA7F21B36B3}"/>
              </a:ext>
            </a:extLst>
          </p:cNvPr>
          <p:cNvCxnSpPr>
            <a:stCxn id="4" idx="4"/>
          </p:cNvCxnSpPr>
          <p:nvPr/>
        </p:nvCxnSpPr>
        <p:spPr>
          <a:xfrm flipH="1">
            <a:off x="4651826" y="3607200"/>
            <a:ext cx="1" cy="416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072ABF03-9E96-4FC7-8A52-F1EFDAC97D21}"/>
              </a:ext>
            </a:extLst>
          </p:cNvPr>
          <p:cNvCxnSpPr/>
          <p:nvPr/>
        </p:nvCxnSpPr>
        <p:spPr>
          <a:xfrm flipH="1" flipV="1">
            <a:off x="2743200" y="2292333"/>
            <a:ext cx="417600" cy="342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DA663BE4-01C8-472A-9837-44F971CE5F58}"/>
              </a:ext>
            </a:extLst>
          </p:cNvPr>
          <p:cNvCxnSpPr>
            <a:stCxn id="4" idx="0"/>
            <a:endCxn id="13" idx="4"/>
          </p:cNvCxnSpPr>
          <p:nvPr/>
        </p:nvCxnSpPr>
        <p:spPr>
          <a:xfrm flipV="1">
            <a:off x="4651827" y="1882566"/>
            <a:ext cx="3286" cy="450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65C3F4CE-0C08-40ED-B735-2C5694080384}"/>
              </a:ext>
            </a:extLst>
          </p:cNvPr>
          <p:cNvCxnSpPr/>
          <p:nvPr/>
        </p:nvCxnSpPr>
        <p:spPr>
          <a:xfrm>
            <a:off x="6163200" y="3247200"/>
            <a:ext cx="44640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7EDA7CDF-67B1-4760-9F8F-97F4FCC3B950}"/>
              </a:ext>
            </a:extLst>
          </p:cNvPr>
          <p:cNvCxnSpPr/>
          <p:nvPr/>
        </p:nvCxnSpPr>
        <p:spPr>
          <a:xfrm flipV="1">
            <a:off x="6204954" y="2293767"/>
            <a:ext cx="446400" cy="38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18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ADB063F9-4554-4D49-A017-0FC99AE064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51807" y="1149772"/>
            <a:ext cx="2589213" cy="154232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ru-RU" sz="1400" dirty="0"/>
              <a:t>Физические средства защиты</a:t>
            </a:r>
          </a:p>
          <a:p>
            <a:r>
              <a:rPr lang="ru-RU" b="0" dirty="0"/>
              <a:t>Это устройства, инженерные сооружения и организационные меры, затрудняющие или исключающие проникновение злоумышленника к источникам конфиденциальной информации.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B57190-3637-4491-993B-51D22EE929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250" y="1150928"/>
            <a:ext cx="2589213" cy="154117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algn="ctr"/>
            <a:r>
              <a:rPr lang="ru-RU" sz="1400" dirty="0"/>
              <a:t>Аппаратные средства защиты</a:t>
            </a:r>
          </a:p>
          <a:p>
            <a:r>
              <a:rPr lang="ru-RU" b="0" dirty="0"/>
              <a:t>Это механические, электрические, электронные и другие устройства, предназначенные для защиты информации от утечки и разглашения и противодействия техническим средствам промышленного шпионажа.</a:t>
            </a: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BF08390-4473-4BF2-9AF4-309B8A27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Средства инженерно-технической защиты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3B10A7E-05AB-46F2-AFFE-BE9939CC115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60352" y="3008152"/>
            <a:ext cx="2589213" cy="1542326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algn="ctr"/>
            <a:r>
              <a:rPr lang="ru-RU" sz="1400" dirty="0"/>
              <a:t>Программные средства защиты</a:t>
            </a:r>
          </a:p>
          <a:p>
            <a:r>
              <a:rPr lang="ru-RU" b="0" dirty="0"/>
              <a:t>Это система специальных программ, включаемых в состав общего и специального обеспечения, реализующих функции защиты информации и сохранения целостности и конфиденциальности. 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15064BC-4A05-4C2C-9365-AFA0558ADE0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278970" y="3008152"/>
            <a:ext cx="2589213" cy="1542325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ru-RU" sz="1400" dirty="0"/>
              <a:t>Криптографические средства защиты</a:t>
            </a:r>
          </a:p>
          <a:p>
            <a:r>
              <a:rPr lang="ru-RU" b="0" dirty="0"/>
              <a:t>Это технические и программные средства шифрования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ADDEA5D-33DC-45F4-BCD6-BF0CEBBEAC0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088857" y="3008152"/>
            <a:ext cx="2589213" cy="1542325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ru-RU" sz="1400" dirty="0"/>
              <a:t>Комбинированные средства защиты</a:t>
            </a:r>
          </a:p>
          <a:p>
            <a:r>
              <a:rPr lang="ru-RU" b="0" dirty="0"/>
              <a:t>Это совокупная реализация аппаратных и программных средств и криптографических методов защиты информации.</a:t>
            </a:r>
          </a:p>
        </p:txBody>
      </p:sp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F3D1A005-8DB5-4C6E-B53E-C8126473275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354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AA2FF1-6508-47C2-8972-8D41783B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A3CCA3-7364-435C-8954-F8E28C861B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/>
              <a:t>Взаимодействие трех направлений обеспечения информационной безопасности:</a:t>
            </a:r>
          </a:p>
          <a:p>
            <a:endParaRPr lang="ru-RU" sz="1600" dirty="0"/>
          </a:p>
          <a:p>
            <a:r>
              <a:rPr lang="ru-RU" sz="1600" b="1" dirty="0"/>
              <a:t>Правовая защита </a:t>
            </a:r>
            <a:r>
              <a:rPr lang="ru-RU" sz="1600" dirty="0"/>
              <a:t>(ФЗ, указы, приказы) требует для собственного обеспечения </a:t>
            </a:r>
            <a:r>
              <a:rPr lang="ru-RU" sz="1600" b="1" dirty="0"/>
              <a:t>организационной защиты </a:t>
            </a:r>
            <a:r>
              <a:rPr lang="ru-RU" sz="1600" dirty="0"/>
              <a:t>(ОРД, обучение, контроль), которая в свою очередь задает требования к </a:t>
            </a:r>
            <a:r>
              <a:rPr lang="ru-RU" sz="1600" b="1" dirty="0"/>
              <a:t>инженерно-технической защите </a:t>
            </a:r>
            <a:r>
              <a:rPr lang="ru-RU" sz="1600" dirty="0"/>
              <a:t>(</a:t>
            </a:r>
            <a:r>
              <a:rPr lang="ru-RU" sz="1600" dirty="0" err="1"/>
              <a:t>фаерволам</a:t>
            </a:r>
            <a:r>
              <a:rPr lang="ru-RU" sz="1600" dirty="0"/>
              <a:t>, шифрованию, средствам защиты информации). Но также важно отметить, что связь организационной и инженерно-технической защит является двусторонней: технические средства также могут выявлять недостатки в организационных мерах (например, </a:t>
            </a:r>
            <a:r>
              <a:rPr lang="ru-RU" sz="1600" dirty="0" err="1"/>
              <a:t>логи</a:t>
            </a:r>
            <a:r>
              <a:rPr lang="ru-RU" sz="1600" dirty="0"/>
              <a:t> показывают, что сотрудник нарушает инструкцию), что приводит к корректировке организационной документации.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FFC39C-B5AF-4F22-B54A-04FCEBDD1D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3932F-DAEA-49EF-8018-30DB1E14F96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629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944C45-7105-495D-AA92-19044CEF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32F-DAEA-49EF-8018-30DB1E14F961}" type="slidenum">
              <a:rPr lang="ru-RU" smtClean="0">
                <a:solidFill>
                  <a:schemeClr val="bg1"/>
                </a:solidFill>
              </a:rPr>
              <a:pPr/>
              <a:t>19</a:t>
            </a:fld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5581</TotalTime>
  <Words>1269</Words>
  <Application>Microsoft Office PowerPoint</Application>
  <PresentationFormat>Экран (16:9)</PresentationFormat>
  <Paragraphs>158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Отчет по лабораторным работам</vt:lpstr>
      <vt:lpstr>Цель и задачи ЛР №1</vt:lpstr>
      <vt:lpstr>ИБ и кибербезопасность</vt:lpstr>
      <vt:lpstr>Триада КЦД</vt:lpstr>
      <vt:lpstr>Различия ИБ и кибербезопасности</vt:lpstr>
      <vt:lpstr>Цель и задачи ЛР №2</vt:lpstr>
      <vt:lpstr>НПА и их иерархия</vt:lpstr>
      <vt:lpstr>Доктрина ИБ РФ</vt:lpstr>
      <vt:lpstr>Доктрина ИБ РФ</vt:lpstr>
      <vt:lpstr>Цель и задачи ЛР №3</vt:lpstr>
      <vt:lpstr>Организационная защита</vt:lpstr>
      <vt:lpstr>Виды организационной защиты</vt:lpstr>
      <vt:lpstr>Классификация организационной защиты</vt:lpstr>
      <vt:lpstr>Цель и задачи ЛР №4</vt:lpstr>
      <vt:lpstr>Инженерно-техническая защита</vt:lpstr>
      <vt:lpstr>Критерии для классификации</vt:lpstr>
      <vt:lpstr>Средства инженерно-технической защиты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Анастасия Жук</cp:lastModifiedBy>
  <cp:revision>143</cp:revision>
  <dcterms:created xsi:type="dcterms:W3CDTF">2014-06-27T12:30:22Z</dcterms:created>
  <dcterms:modified xsi:type="dcterms:W3CDTF">2026-05-22T09:56:35Z</dcterms:modified>
</cp:coreProperties>
</file>